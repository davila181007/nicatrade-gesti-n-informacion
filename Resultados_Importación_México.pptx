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eague Spartan" charset="1" panose="00000800000000000000"/>
      <p:regular r:id="rId13"/>
    </p:embeddedFont>
    <p:embeddedFont>
      <p:font typeface="Helios" charset="1" panose="020B0504020202020204"/>
      <p:regular r:id="rId14"/>
    </p:embeddedFont>
    <p:embeddedFont>
      <p:font typeface="Helios Bold" charset="1" panose="020B07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6505" y="1295504"/>
            <a:ext cx="19270793" cy="9900370"/>
          </a:xfrm>
          <a:custGeom>
            <a:avLst/>
            <a:gdLst/>
            <a:ahLst/>
            <a:cxnLst/>
            <a:rect r="r" b="b" t="t" l="l"/>
            <a:pathLst>
              <a:path h="9900370" w="19270793">
                <a:moveTo>
                  <a:pt x="0" y="0"/>
                </a:moveTo>
                <a:lnTo>
                  <a:pt x="19270793" y="0"/>
                </a:lnTo>
                <a:lnTo>
                  <a:pt x="19270793" y="9900370"/>
                </a:lnTo>
                <a:lnTo>
                  <a:pt x="0" y="99003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000220"/>
            <a:ext cx="12325225" cy="135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7"/>
              </a:lnSpc>
            </a:pPr>
            <a:r>
              <a:rPr lang="en-US" sz="11077">
                <a:solidFill>
                  <a:srgbClr val="1B40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INTERNATIONAL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85949"/>
            <a:ext cx="13496311" cy="135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7"/>
              </a:lnSpc>
            </a:pPr>
            <a:r>
              <a:rPr lang="en-US" sz="11077">
                <a:solidFill>
                  <a:srgbClr val="5179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NICATRADE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755883"/>
            <a:ext cx="8111626" cy="325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633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Asignatura: Tecnologías de Gestión de Información</a:t>
            </a:r>
          </a:p>
          <a:p>
            <a:pPr algn="l">
              <a:lnSpc>
                <a:spcPts val="3686"/>
              </a:lnSpc>
            </a:pPr>
            <a:r>
              <a:rPr lang="en-US" sz="2633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Universidad Americana</a:t>
            </a:r>
          </a:p>
          <a:p>
            <a:pPr algn="l">
              <a:lnSpc>
                <a:spcPts val="3686"/>
              </a:lnSpc>
            </a:pPr>
          </a:p>
          <a:p>
            <a:pPr algn="l">
              <a:lnSpc>
                <a:spcPts val="3686"/>
              </a:lnSpc>
            </a:pPr>
            <a:r>
              <a:rPr lang="en-US" sz="2633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Presentado por: - Brissa Montengro</a:t>
            </a:r>
          </a:p>
          <a:p>
            <a:pPr algn="l">
              <a:lnSpc>
                <a:spcPts val="3686"/>
              </a:lnSpc>
            </a:pPr>
            <a:r>
              <a:rPr lang="en-US" sz="2633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                          - Linda Torrez</a:t>
            </a:r>
          </a:p>
          <a:p>
            <a:pPr algn="l">
              <a:lnSpc>
                <a:spcPts val="3686"/>
              </a:lnSpc>
            </a:pPr>
            <a:r>
              <a:rPr lang="en-US" sz="2633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                          - Rossiangely Davila</a:t>
            </a:r>
          </a:p>
          <a:p>
            <a:pPr algn="l">
              <a:lnSpc>
                <a:spcPts val="36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94742" y="3852612"/>
            <a:ext cx="6910846" cy="6146708"/>
          </a:xfrm>
          <a:custGeom>
            <a:avLst/>
            <a:gdLst/>
            <a:ahLst/>
            <a:cxnLst/>
            <a:rect r="r" b="b" t="t" l="l"/>
            <a:pathLst>
              <a:path h="6146708" w="6910846">
                <a:moveTo>
                  <a:pt x="0" y="0"/>
                </a:moveTo>
                <a:lnTo>
                  <a:pt x="6910846" y="0"/>
                </a:lnTo>
                <a:lnTo>
                  <a:pt x="6910846" y="6146708"/>
                </a:lnTo>
                <a:lnTo>
                  <a:pt x="0" y="6146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8848" t="0" r="0" b="-6106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5018" y="1599233"/>
            <a:ext cx="8687738" cy="114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71"/>
              </a:lnSpc>
            </a:pPr>
            <a:r>
              <a:rPr lang="en-US" sz="7939">
                <a:solidFill>
                  <a:srgbClr val="4E6B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TEMAS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0515" y="3059015"/>
            <a:ext cx="8687738" cy="62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3757" indent="-386878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3C4147"/>
                </a:solidFill>
                <a:latin typeface="Helios"/>
                <a:ea typeface="Helios"/>
                <a:cs typeface="Helios"/>
                <a:sym typeface="Helios"/>
              </a:rPr>
              <a:t>Empresa y Operacion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0515" y="4281242"/>
            <a:ext cx="8687738" cy="62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3757" indent="-386878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3C4147"/>
                </a:solidFill>
                <a:latin typeface="Helios"/>
                <a:ea typeface="Helios"/>
                <a:cs typeface="Helios"/>
                <a:sym typeface="Helios"/>
              </a:rPr>
              <a:t>Resultados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0515" y="5503468"/>
            <a:ext cx="8687738" cy="62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3757" indent="-386878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3C4147"/>
                </a:solidFill>
                <a:latin typeface="Helios"/>
                <a:ea typeface="Helios"/>
                <a:cs typeface="Helios"/>
                <a:sym typeface="Helios"/>
              </a:rPr>
              <a:t>Coclusiones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843804" y="9258300"/>
            <a:ext cx="21513919" cy="1488540"/>
          </a:xfrm>
          <a:custGeom>
            <a:avLst/>
            <a:gdLst/>
            <a:ahLst/>
            <a:cxnLst/>
            <a:rect r="r" b="b" t="t" l="l"/>
            <a:pathLst>
              <a:path h="1488540" w="21513919">
                <a:moveTo>
                  <a:pt x="0" y="0"/>
                </a:moveTo>
                <a:lnTo>
                  <a:pt x="21513919" y="0"/>
                </a:lnTo>
                <a:lnTo>
                  <a:pt x="21513919" y="1488540"/>
                </a:lnTo>
                <a:lnTo>
                  <a:pt x="0" y="1488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9669" y="280886"/>
            <a:ext cx="10111925" cy="106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90"/>
              </a:lnSpc>
              <a:spcBef>
                <a:spcPct val="0"/>
              </a:spcBef>
            </a:pPr>
            <a:r>
              <a:rPr lang="en-US" sz="6207">
                <a:solidFill>
                  <a:srgbClr val="4E6B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Empresa y operación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18998" y="1263064"/>
            <a:ext cx="7732551" cy="72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0"/>
              </a:lnSpc>
            </a:pPr>
            <a:r>
              <a:rPr lang="en-US" sz="4264">
                <a:solidFill>
                  <a:srgbClr val="3C4147"/>
                </a:solidFill>
                <a:latin typeface="Helios"/>
                <a:ea typeface="Helios"/>
                <a:cs typeface="Helios"/>
                <a:sym typeface="Helios"/>
              </a:rPr>
              <a:t>NICATRADE INTERNATIONAL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4350" y="1935366"/>
            <a:ext cx="17259300" cy="775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7"/>
              </a:lnSpc>
            </a:pPr>
            <a:r>
              <a:rPr lang="en-US" sz="2755" b="true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¿A qué se dedica?</a:t>
            </a:r>
          </a:p>
          <a:p>
            <a:pPr algn="just">
              <a:lnSpc>
                <a:spcPts val="3857"/>
              </a:lnSpc>
            </a:pP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Empresa nicaragüense dedicada a la importación y exportación de productos alimenticios y de consumo.</a:t>
            </a:r>
          </a:p>
          <a:p>
            <a:pPr algn="just">
              <a:lnSpc>
                <a:spcPts val="3857"/>
              </a:lnSpc>
            </a:pP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Operación analizada</a:t>
            </a:r>
          </a:p>
          <a:p>
            <a:pPr algn="just">
              <a:lnSpc>
                <a:spcPts val="3857"/>
              </a:lnSpc>
            </a:pP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México → Nicaragua </a:t>
            </a:r>
          </a:p>
          <a:p>
            <a:pPr algn="just">
              <a:lnSpc>
                <a:spcPts val="3857"/>
              </a:lnSpc>
            </a:pP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En Excel se analizaron 50 productos de diferentes categorías:</a:t>
            </a:r>
          </a:p>
          <a:p>
            <a:pPr algn="just" marL="594807" indent="-297404" lvl="1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Alimentos</a:t>
            </a:r>
          </a:p>
          <a:p>
            <a:pPr algn="just" marL="594807" indent="-297404" lvl="1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Bebidas</a:t>
            </a:r>
          </a:p>
          <a:p>
            <a:pPr algn="just" marL="594807" indent="-297404" lvl="1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Limpieza</a:t>
            </a:r>
          </a:p>
          <a:p>
            <a:pPr algn="just" marL="594807" indent="-297404" lvl="1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Hogar</a:t>
            </a:r>
          </a:p>
          <a:p>
            <a:pPr algn="just" marL="594807" indent="-297404" lvl="1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Oficina</a:t>
            </a:r>
          </a:p>
          <a:p>
            <a:pPr algn="just" marL="594807" indent="-297404" lvl="1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Tecnología</a:t>
            </a:r>
          </a:p>
          <a:p>
            <a:pPr algn="just" marL="594807" indent="-297404" lvl="1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Accesorios</a:t>
            </a:r>
          </a:p>
          <a:p>
            <a:pPr algn="just">
              <a:lnSpc>
                <a:spcPts val="3857"/>
              </a:lnSpc>
            </a:pPr>
            <a:r>
              <a:rPr lang="en-US" sz="275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La empresa necesita organizar y analizar sus datos para conocer mejor sus operaciones. Esto coincide con el objetivo del microproyecto de utilizar herramientas digitales para crear, procesar y organizar información empresarial.</a:t>
            </a:r>
          </a:p>
          <a:p>
            <a:pPr algn="just" marL="0" indent="0" lvl="0">
              <a:lnSpc>
                <a:spcPts val="3857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843804" y="9258300"/>
            <a:ext cx="21513919" cy="1488540"/>
          </a:xfrm>
          <a:custGeom>
            <a:avLst/>
            <a:gdLst/>
            <a:ahLst/>
            <a:cxnLst/>
            <a:rect r="r" b="b" t="t" l="l"/>
            <a:pathLst>
              <a:path h="1488540" w="21513919">
                <a:moveTo>
                  <a:pt x="0" y="0"/>
                </a:moveTo>
                <a:lnTo>
                  <a:pt x="21513919" y="0"/>
                </a:lnTo>
                <a:lnTo>
                  <a:pt x="21513919" y="1488540"/>
                </a:lnTo>
                <a:lnTo>
                  <a:pt x="0" y="14885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00841" y="4012905"/>
            <a:ext cx="8406332" cy="6798621"/>
          </a:xfrm>
          <a:custGeom>
            <a:avLst/>
            <a:gdLst/>
            <a:ahLst/>
            <a:cxnLst/>
            <a:rect r="r" b="b" t="t" l="l"/>
            <a:pathLst>
              <a:path h="6798621" w="8406332">
                <a:moveTo>
                  <a:pt x="0" y="0"/>
                </a:moveTo>
                <a:lnTo>
                  <a:pt x="8406332" y="0"/>
                </a:lnTo>
                <a:lnTo>
                  <a:pt x="8406332" y="6798621"/>
                </a:lnTo>
                <a:lnTo>
                  <a:pt x="0" y="67986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65235" y="3627469"/>
            <a:ext cx="12157529" cy="207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04"/>
              </a:lnSpc>
              <a:spcBef>
                <a:spcPct val="0"/>
              </a:spcBef>
            </a:pPr>
            <a:r>
              <a:rPr lang="en-US" sz="12074">
                <a:solidFill>
                  <a:srgbClr val="1B40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67143" y="5247019"/>
            <a:ext cx="8642808" cy="81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3"/>
              </a:lnSpc>
            </a:pPr>
            <a:r>
              <a:rPr lang="en-US" sz="4766">
                <a:solidFill>
                  <a:srgbClr val="3C4147"/>
                </a:solidFill>
                <a:latin typeface="Helios"/>
                <a:ea typeface="Helios"/>
                <a:cs typeface="Helios"/>
                <a:sym typeface="Helios"/>
              </a:rPr>
              <a:t>NICATRADE INTERNATIONAL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171862" y="-155807"/>
            <a:ext cx="8406332" cy="6798621"/>
          </a:xfrm>
          <a:custGeom>
            <a:avLst/>
            <a:gdLst/>
            <a:ahLst/>
            <a:cxnLst/>
            <a:rect r="r" b="b" t="t" l="l"/>
            <a:pathLst>
              <a:path h="6798621" w="8406332">
                <a:moveTo>
                  <a:pt x="0" y="0"/>
                </a:moveTo>
                <a:lnTo>
                  <a:pt x="8406332" y="0"/>
                </a:lnTo>
                <a:lnTo>
                  <a:pt x="8406332" y="6798622"/>
                </a:lnTo>
                <a:lnTo>
                  <a:pt x="0" y="6798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3804" y="9258300"/>
            <a:ext cx="21513919" cy="1488540"/>
          </a:xfrm>
          <a:custGeom>
            <a:avLst/>
            <a:gdLst/>
            <a:ahLst/>
            <a:cxnLst/>
            <a:rect r="r" b="b" t="t" l="l"/>
            <a:pathLst>
              <a:path h="1488540" w="21513919">
                <a:moveTo>
                  <a:pt x="0" y="0"/>
                </a:moveTo>
                <a:lnTo>
                  <a:pt x="21513919" y="0"/>
                </a:lnTo>
                <a:lnTo>
                  <a:pt x="21513919" y="1488540"/>
                </a:lnTo>
                <a:lnTo>
                  <a:pt x="0" y="14885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59013" y="2119766"/>
            <a:ext cx="9532933" cy="7138534"/>
          </a:xfrm>
          <a:custGeom>
            <a:avLst/>
            <a:gdLst/>
            <a:ahLst/>
            <a:cxnLst/>
            <a:rect r="r" b="b" t="t" l="l"/>
            <a:pathLst>
              <a:path h="7138534" w="9532933">
                <a:moveTo>
                  <a:pt x="0" y="0"/>
                </a:moveTo>
                <a:lnTo>
                  <a:pt x="9532933" y="0"/>
                </a:lnTo>
                <a:lnTo>
                  <a:pt x="9532933" y="7138534"/>
                </a:lnTo>
                <a:lnTo>
                  <a:pt x="0" y="7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393" t="0" r="-1354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17668" y="280886"/>
            <a:ext cx="13082690" cy="106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90"/>
              </a:lnSpc>
              <a:spcBef>
                <a:spcPct val="0"/>
              </a:spcBef>
            </a:pPr>
            <a:r>
              <a:rPr lang="en-US" sz="6207">
                <a:solidFill>
                  <a:srgbClr val="4E6B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Resultados del análisis en Excel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18998" y="1263064"/>
            <a:ext cx="7732551" cy="72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0"/>
              </a:lnSpc>
            </a:pPr>
            <a:r>
              <a:rPr lang="en-US" sz="4264">
                <a:solidFill>
                  <a:srgbClr val="3C4147"/>
                </a:solidFill>
                <a:latin typeface="Helios"/>
                <a:ea typeface="Helios"/>
                <a:cs typeface="Helios"/>
                <a:sym typeface="Helios"/>
              </a:rPr>
              <a:t>NICATRADE INTERNATIONAL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05183"/>
            <a:ext cx="8682356" cy="677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7"/>
              </a:lnSpc>
            </a:pPr>
          </a:p>
          <a:p>
            <a:pPr algn="l" marL="634948" indent="-317474" lvl="1">
              <a:lnSpc>
                <a:spcPts val="4117"/>
              </a:lnSpc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  <a:r>
              <a:rPr lang="en-US" sz="294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</a:t>
            </a:r>
            <a:r>
              <a:rPr lang="en-US" b="true" sz="294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mporte total:</a:t>
            </a:r>
          </a:p>
          <a:p>
            <a:pPr algn="just">
              <a:lnSpc>
                <a:spcPts val="4117"/>
              </a:lnSpc>
            </a:pPr>
            <a:r>
              <a:rPr lang="en-US" sz="294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US$40,359.00</a:t>
            </a:r>
          </a:p>
          <a:p>
            <a:pPr algn="l" marL="634948" indent="-317474" lvl="1">
              <a:lnSpc>
                <a:spcPts val="4117"/>
              </a:lnSpc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  <a:r>
              <a:rPr lang="en-US" b="true" sz="294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Productos registrados:</a:t>
            </a:r>
          </a:p>
          <a:p>
            <a:pPr algn="just">
              <a:lnSpc>
                <a:spcPts val="4117"/>
              </a:lnSpc>
            </a:pPr>
            <a:r>
              <a:rPr lang="en-US" sz="294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50</a:t>
            </a:r>
          </a:p>
          <a:p>
            <a:pPr algn="l" marL="634948" indent="-317474" lvl="1">
              <a:lnSpc>
                <a:spcPts val="4117"/>
              </a:lnSpc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</a:t>
            </a:r>
            <a:r>
              <a:rPr lang="en-US" b="true" sz="294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recio promedio:</a:t>
            </a:r>
          </a:p>
          <a:p>
            <a:pPr algn="just">
              <a:lnSpc>
                <a:spcPts val="4117"/>
              </a:lnSpc>
            </a:pPr>
            <a:r>
              <a:rPr lang="en-US" sz="294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US$7.74</a:t>
            </a:r>
          </a:p>
          <a:p>
            <a:pPr algn="l" marL="634948" indent="-317474" lvl="1">
              <a:lnSpc>
                <a:spcPts val="4117"/>
              </a:lnSpc>
              <a:buFont typeface="Arial"/>
              <a:buChar char="•"/>
            </a:pPr>
            <a:r>
              <a:rPr lang="en-US" b="true" sz="294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Importe de productos de México:</a:t>
            </a:r>
          </a:p>
          <a:p>
            <a:pPr algn="just">
              <a:lnSpc>
                <a:spcPts val="4117"/>
              </a:lnSpc>
            </a:pPr>
            <a:r>
              <a:rPr lang="en-US" sz="294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US$36,919.50</a:t>
            </a:r>
          </a:p>
          <a:p>
            <a:pPr algn="l" marL="634948" indent="-317474" lvl="1">
              <a:lnSpc>
                <a:spcPts val="4117"/>
              </a:lnSpc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</a:t>
            </a:r>
            <a:r>
              <a:rPr lang="en-US" b="true" sz="294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roducto con mayor importe:</a:t>
            </a:r>
          </a:p>
          <a:p>
            <a:pPr algn="just">
              <a:lnSpc>
                <a:spcPts val="4117"/>
              </a:lnSpc>
            </a:pPr>
            <a:r>
              <a:rPr lang="en-US" sz="294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Mochilas — US$1,912.50</a:t>
            </a:r>
          </a:p>
          <a:p>
            <a:pPr algn="just">
              <a:lnSpc>
                <a:spcPts val="4117"/>
              </a:lnSpc>
            </a:pPr>
          </a:p>
          <a:p>
            <a:pPr algn="just" marL="0" indent="0" lvl="0">
              <a:lnSpc>
                <a:spcPts val="411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40369" y="10057687"/>
            <a:ext cx="7732551" cy="72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0"/>
              </a:lnSpc>
            </a:pPr>
            <a:r>
              <a:rPr lang="en-US" sz="4264">
                <a:solidFill>
                  <a:srgbClr val="3C4147"/>
                </a:solidFill>
                <a:latin typeface="Helios"/>
                <a:ea typeface="Helios"/>
                <a:cs typeface="Helios"/>
                <a:sym typeface="Helios"/>
              </a:rPr>
              <a:t>NICATRADE INTERNATIONAL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058123" y="813919"/>
            <a:ext cx="0" cy="1560533"/>
          </a:xfrm>
          <a:prstGeom prst="line">
            <a:avLst/>
          </a:prstGeom>
          <a:ln cap="flat" w="38100">
            <a:solidFill>
              <a:srgbClr val="4E6B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751343" y="839471"/>
            <a:ext cx="10217923" cy="83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92"/>
              </a:lnSpc>
              <a:spcBef>
                <a:spcPct val="0"/>
              </a:spcBef>
            </a:pPr>
            <a:r>
              <a:rPr lang="en-US" sz="4923">
                <a:solidFill>
                  <a:srgbClr val="1B40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-477901" y="0"/>
            <a:ext cx="5384402" cy="4354635"/>
          </a:xfrm>
          <a:custGeom>
            <a:avLst/>
            <a:gdLst/>
            <a:ahLst/>
            <a:cxnLst/>
            <a:rect r="r" b="b" t="t" l="l"/>
            <a:pathLst>
              <a:path h="4354635" w="5384402">
                <a:moveTo>
                  <a:pt x="0" y="0"/>
                </a:moveTo>
                <a:lnTo>
                  <a:pt x="5384403" y="0"/>
                </a:lnTo>
                <a:lnTo>
                  <a:pt x="5384403" y="4354635"/>
                </a:lnTo>
                <a:lnTo>
                  <a:pt x="0" y="4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03598" y="5932365"/>
            <a:ext cx="5384402" cy="4354635"/>
          </a:xfrm>
          <a:custGeom>
            <a:avLst/>
            <a:gdLst/>
            <a:ahLst/>
            <a:cxnLst/>
            <a:rect r="r" b="b" t="t" l="l"/>
            <a:pathLst>
              <a:path h="4354635" w="5384402">
                <a:moveTo>
                  <a:pt x="0" y="0"/>
                </a:moveTo>
                <a:lnTo>
                  <a:pt x="5384402" y="0"/>
                </a:lnTo>
                <a:lnTo>
                  <a:pt x="5384402" y="4354635"/>
                </a:lnTo>
                <a:lnTo>
                  <a:pt x="0" y="4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10648" y="1447865"/>
            <a:ext cx="7732551" cy="72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0"/>
              </a:lnSpc>
            </a:pPr>
            <a:r>
              <a:rPr lang="en-US" sz="4264">
                <a:solidFill>
                  <a:srgbClr val="3C4147"/>
                </a:solidFill>
                <a:latin typeface="Helios"/>
                <a:ea typeface="Helios"/>
                <a:cs typeface="Helios"/>
                <a:sym typeface="Helios"/>
              </a:rPr>
              <a:t>NICATRADE INTERNATIONAL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2639" y="2859792"/>
            <a:ext cx="14662723" cy="60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3696" indent="-341848" lvl="1">
              <a:lnSpc>
                <a:spcPts val="4433"/>
              </a:lnSpc>
              <a:buFont typeface="Arial"/>
              <a:buChar char="•"/>
            </a:pPr>
            <a:r>
              <a:rPr lang="en-US" sz="3166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El análisis permitió conocer el valor total de la operación y los productos registrados.</a:t>
            </a:r>
          </a:p>
          <a:p>
            <a:pPr algn="l" marL="683696" indent="-341848" lvl="1">
              <a:lnSpc>
                <a:spcPts val="4433"/>
              </a:lnSpc>
              <a:buFont typeface="Arial"/>
              <a:buChar char="•"/>
            </a:pPr>
            <a:r>
              <a:rPr lang="en-US" sz="3166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Se identificó que las mochilas tienen el mayor importe individual.</a:t>
            </a:r>
          </a:p>
          <a:p>
            <a:pPr algn="l" marL="683696" indent="-341848" lvl="1">
              <a:lnSpc>
                <a:spcPts val="4433"/>
              </a:lnSpc>
              <a:buFont typeface="Arial"/>
              <a:buChar char="•"/>
            </a:pPr>
            <a:r>
              <a:rPr lang="en-US" sz="3166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Excel facilitó la organización y el análisis de los datos.</a:t>
            </a:r>
          </a:p>
          <a:p>
            <a:pPr algn="l" marL="683696" indent="-341848" lvl="1">
              <a:lnSpc>
                <a:spcPts val="4433"/>
              </a:lnSpc>
              <a:buFont typeface="Arial"/>
              <a:buChar char="•"/>
            </a:pPr>
            <a:r>
              <a:rPr lang="en-US" sz="3166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Tener la información organizada ayuda a encontrar los datos con mayor facilidad.</a:t>
            </a:r>
          </a:p>
          <a:p>
            <a:pPr algn="l" marL="683696" indent="-341848" lvl="1">
              <a:lnSpc>
                <a:spcPts val="4433"/>
              </a:lnSpc>
              <a:buFont typeface="Arial"/>
              <a:buChar char="•"/>
            </a:pPr>
            <a:r>
              <a:rPr lang="en-US" sz="3166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Las herramientas digitales son importantes para manejar la información de una empresa de comercio internacional.</a:t>
            </a:r>
          </a:p>
          <a:p>
            <a:pPr algn="l">
              <a:lnSpc>
                <a:spcPts val="4433"/>
              </a:lnSpc>
            </a:pPr>
          </a:p>
          <a:p>
            <a:pPr algn="just">
              <a:lnSpc>
                <a:spcPts val="4433"/>
              </a:lnSpc>
            </a:pPr>
          </a:p>
          <a:p>
            <a:pPr algn="just" marL="0" indent="0" lvl="0">
              <a:lnSpc>
                <a:spcPts val="443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99659" y="3981993"/>
            <a:ext cx="12488682" cy="247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226"/>
              </a:lnSpc>
            </a:pPr>
            <a:r>
              <a:rPr lang="en-US" sz="14447">
                <a:solidFill>
                  <a:srgbClr val="1B40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¡GRACIAS!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990885" y="9516582"/>
            <a:ext cx="22269770" cy="1540837"/>
          </a:xfrm>
          <a:custGeom>
            <a:avLst/>
            <a:gdLst/>
            <a:ahLst/>
            <a:cxnLst/>
            <a:rect r="r" b="b" t="t" l="l"/>
            <a:pathLst>
              <a:path h="1540837" w="22269770">
                <a:moveTo>
                  <a:pt x="0" y="0"/>
                </a:moveTo>
                <a:lnTo>
                  <a:pt x="22269770" y="0"/>
                </a:lnTo>
                <a:lnTo>
                  <a:pt x="22269770" y="1540836"/>
                </a:lnTo>
                <a:lnTo>
                  <a:pt x="0" y="1540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39420" y="-770418"/>
            <a:ext cx="22269770" cy="1540837"/>
          </a:xfrm>
          <a:custGeom>
            <a:avLst/>
            <a:gdLst/>
            <a:ahLst/>
            <a:cxnLst/>
            <a:rect r="r" b="b" t="t" l="l"/>
            <a:pathLst>
              <a:path h="1540837" w="22269770">
                <a:moveTo>
                  <a:pt x="0" y="0"/>
                </a:moveTo>
                <a:lnTo>
                  <a:pt x="22269770" y="0"/>
                </a:lnTo>
                <a:lnTo>
                  <a:pt x="22269770" y="1540836"/>
                </a:lnTo>
                <a:lnTo>
                  <a:pt x="0" y="1540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DAHVmDujzKU</dc:identifier>
  <dcterms:modified xsi:type="dcterms:W3CDTF">2011-08-01T06:04:30Z</dcterms:modified>
  <cp:revision>1</cp:revision>
  <dc:title>Presentación - Empresa - Diapositivas corporativas, colores verde y blanco</dc:title>
</cp:coreProperties>
</file>